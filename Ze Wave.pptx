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0" r:id="rId4"/>
    <p:sldId id="271" r:id="rId5"/>
    <p:sldId id="257" r:id="rId6"/>
    <p:sldId id="258" r:id="rId7"/>
    <p:sldId id="259" r:id="rId8"/>
    <p:sldId id="260" r:id="rId9"/>
    <p:sldId id="261" r:id="rId10"/>
    <p:sldId id="262" r:id="rId11"/>
    <p:sldId id="266" r:id="rId12"/>
    <p:sldId id="263" r:id="rId13"/>
    <p:sldId id="265" r:id="rId14"/>
    <p:sldId id="264" r:id="rId15"/>
    <p:sldId id="267" r:id="rId16"/>
    <p:sldId id="269" r:id="rId17"/>
    <p:sldId id="268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 userDrawn="1">
          <p15:clr>
            <a:srgbClr val="A4A3A4"/>
          </p15:clr>
        </p15:guide>
        <p15:guide id="2" pos="2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059"/>
        <p:guide pos="286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9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6D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292608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ptos"/>
              </a:rPr>
              <a:t>WAVE</a:t>
            </a:r>
            <a:endParaRPr sz="42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1389888"/>
            <a:ext cx="40233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DEEF"/>
                </a:solidFill>
                <a:latin typeface="Aptos"/>
              </a:rPr>
              <a:t>LET YOUR MONEY FLOW</a:t>
            </a:r>
            <a:endParaRPr sz="1200" b="1" i="0">
              <a:solidFill>
                <a:srgbClr val="26DEE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6583680" cy="1554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Your money.
One clear picture.</a:t>
            </a:r>
            <a:endParaRPr sz="34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59436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DEEF"/>
                </a:solidFill>
                <a:latin typeface="Aptos"/>
              </a:rPr>
              <a:t>Send. Save. Spend. Understand.</a:t>
            </a:r>
            <a:endParaRPr sz="1900" b="1" i="0">
              <a:solidFill>
                <a:srgbClr val="26DEE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4480560"/>
            <a:ext cx="585216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A connected money-management experience designed for everyday Nigerians.</a:t>
            </a:r>
            <a:endParaRPr sz="1600" b="0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2240280" cy="502920"/>
          </a:xfrm>
          <a:prstGeom prst="roundRect">
            <a:avLst/>
          </a:prstGeom>
          <a:solidFill>
            <a:srgbClr val="00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2057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PITCH DECK  •  2026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0" y="5943600"/>
            <a:ext cx="40233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The money app for Africa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16" name="Picture 15" descr="Group_10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885" y="375920"/>
            <a:ext cx="1176655" cy="8388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71600" cy="32004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197FC"/>
                </a:solidFill>
                <a:latin typeface="Aptos"/>
              </a:rPr>
              <a:t>WAVE</a:t>
            </a:r>
            <a:endParaRPr sz="1800" b="1" i="0">
              <a:solidFill>
                <a:srgbClr val="0197F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"/>
            <a:ext cx="6858000" cy="27432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A688B"/>
                </a:solidFill>
                <a:latin typeface="Aptos"/>
              </a:rPr>
              <a:t>LOGO STORY · THE IDEA</a:t>
            </a:r>
            <a:endParaRPr sz="900" b="1" i="0">
              <a:solidFill>
                <a:srgbClr val="4A688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274320" cy="27432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A688B"/>
                </a:solidFill>
                <a:latin typeface="Aptos"/>
              </a:rPr>
              <a:t>15</a:t>
            </a:r>
            <a:endParaRPr sz="900" b="1" i="0">
              <a:solidFill>
                <a:srgbClr val="4A688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6459"/>
          </a:xfrm>
          <a:prstGeom prst="rect">
            <a:avLst/>
          </a:prstGeom>
          <a:solidFill>
            <a:srgbClr val="BE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32688"/>
            <a:ext cx="8869680" cy="566928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72753"/>
                </a:solidFill>
                <a:latin typeface="Aptos"/>
              </a:rPr>
              <a:t>Inspired by the natural flow of water.</a:t>
            </a:r>
            <a:endParaRPr sz="2800" b="1" i="0">
              <a:solidFill>
                <a:srgbClr val="07275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8138160" cy="266065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A688B"/>
                </a:solidFill>
                <a:latin typeface="Aptos"/>
              </a:rPr>
              <a:t>A symbol for money in motion.</a:t>
            </a:r>
            <a:endParaRPr sz="1500" b="0" i="0">
              <a:solidFill>
                <a:srgbClr val="4A688B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5715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E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50592"/>
            <a:ext cx="1828800" cy="22860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197FC"/>
                </a:solidFill>
                <a:latin typeface="Aptos"/>
              </a:rPr>
              <a:t>THE CONCEPT</a:t>
            </a:r>
            <a:endParaRPr sz="1000" b="1" i="0">
              <a:solidFill>
                <a:srgbClr val="0197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2852928"/>
            <a:ext cx="4983480" cy="96012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72753"/>
                </a:solidFill>
                <a:latin typeface="Aptos"/>
              </a:rPr>
              <a:t>Wave’s logo takes inspiration from the fluid movement of water. That fluidity reflects how funds move through the app.</a:t>
            </a:r>
            <a:endParaRPr sz="1900" b="1" i="0">
              <a:solidFill>
                <a:srgbClr val="07275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7552" y="4096512"/>
            <a:ext cx="4892040" cy="73152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688B"/>
                </a:solidFill>
                <a:latin typeface="Aptos"/>
              </a:rPr>
              <a:t>The design direction was intentional: keep the mark simple, clear and easy to recognize.</a:t>
            </a:r>
            <a:endParaRPr sz="1400" b="0" i="0">
              <a:solidFill>
                <a:srgbClr val="4A688B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720840" y="2148840"/>
            <a:ext cx="47548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E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8" y="4803013"/>
            <a:ext cx="1188720" cy="22860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197FC"/>
                </a:solidFill>
                <a:latin typeface="Aptos"/>
              </a:rPr>
              <a:t>FLUIDITY</a:t>
            </a:r>
            <a:endParaRPr sz="1000" b="1" i="0">
              <a:solidFill>
                <a:srgbClr val="0197F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66760" y="4803013"/>
            <a:ext cx="1463040" cy="22860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72753"/>
                </a:solidFill>
                <a:latin typeface="Aptos"/>
              </a:rPr>
              <a:t>MOVEMENT</a:t>
            </a:r>
            <a:endParaRPr sz="1000" b="1" i="0">
              <a:solidFill>
                <a:srgbClr val="072753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57232" y="4803013"/>
            <a:ext cx="1188720" cy="22860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197FC"/>
                </a:solidFill>
                <a:latin typeface="Aptos"/>
              </a:rPr>
              <a:t>SIMPLICITY</a:t>
            </a:r>
            <a:endParaRPr sz="1000" b="1" i="0">
              <a:solidFill>
                <a:srgbClr val="0197F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6327648"/>
            <a:ext cx="4572000" cy="18288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A688B"/>
                </a:solidFill>
                <a:latin typeface="Aptos"/>
              </a:rPr>
              <a:t>WAVE  •  LET YOUR MONEY FLOW</a:t>
            </a:r>
            <a:endParaRPr sz="800" b="1" i="0">
              <a:solidFill>
                <a:srgbClr val="4A688B"/>
              </a:solidFill>
              <a:latin typeface="Aptos"/>
            </a:endParaRPr>
          </a:p>
        </p:txBody>
      </p:sp>
      <p:pic>
        <p:nvPicPr>
          <p:cNvPr id="7" name="Picture 6" descr="Group_10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935" y="2679065"/>
            <a:ext cx="2980690" cy="2124710"/>
          </a:xfrm>
          <a:prstGeom prst="rect">
            <a:avLst/>
          </a:prstGeom>
        </p:spPr>
      </p:pic>
      <p:pic>
        <p:nvPicPr>
          <p:cNvPr id="22" name="Picture 21" descr="Group_10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885" y="5918200"/>
            <a:ext cx="1176655" cy="8388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71600" cy="32004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197FC"/>
                </a:solidFill>
                <a:latin typeface="Aptos"/>
              </a:rPr>
              <a:t>WAVE</a:t>
            </a:r>
            <a:endParaRPr sz="1800" b="1" i="0">
              <a:solidFill>
                <a:srgbClr val="0197F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"/>
            <a:ext cx="6858000" cy="27432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A688B"/>
                </a:solidFill>
                <a:latin typeface="Aptos"/>
              </a:rPr>
              <a:t>LOGO STORY · BUILDING THE IDENTITY</a:t>
            </a:r>
            <a:endParaRPr sz="900" b="1" i="0">
              <a:solidFill>
                <a:srgbClr val="4A688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274320" cy="27432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A688B"/>
                </a:solidFill>
                <a:latin typeface="Aptos"/>
              </a:rPr>
              <a:t>16</a:t>
            </a:r>
            <a:endParaRPr sz="900" b="1" i="0">
              <a:solidFill>
                <a:srgbClr val="4A688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6459"/>
          </a:xfrm>
          <a:prstGeom prst="rect">
            <a:avLst/>
          </a:prstGeom>
          <a:solidFill>
            <a:srgbClr val="BE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2873"/>
            <a:ext cx="9144000" cy="566928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72753"/>
                </a:solidFill>
                <a:latin typeface="Aptos"/>
              </a:rPr>
              <a:t>From a simple mark to a recognizable identity.</a:t>
            </a:r>
            <a:endParaRPr sz="2700" b="1" i="0">
              <a:solidFill>
                <a:srgbClr val="072753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4709160" cy="3566160"/>
          </a:xfrm>
          <a:prstGeom prst="roundRect">
            <a:avLst/>
          </a:prstGeom>
          <a:solidFill>
            <a:srgbClr val="EAF5FD"/>
          </a:solidFill>
          <a:ln>
            <a:solidFill>
              <a:srgbClr val="BE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04288"/>
            <a:ext cx="2011680" cy="22860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197FC"/>
                </a:solidFill>
                <a:latin typeface="Aptos"/>
              </a:rPr>
              <a:t>COLOUR PALETTE</a:t>
            </a:r>
            <a:endParaRPr sz="1000" b="1" i="0">
              <a:solidFill>
                <a:srgbClr val="0197FC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87552" y="2761488"/>
            <a:ext cx="1078992" cy="621792"/>
          </a:xfrm>
          <a:prstGeom prst="roundRect">
            <a:avLst/>
          </a:prstGeom>
          <a:solidFill>
            <a:srgbClr val="019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456432"/>
            <a:ext cx="1143000" cy="201168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72753"/>
                </a:solidFill>
                <a:latin typeface="Aptos"/>
              </a:rPr>
              <a:t>Blue</a:t>
            </a:r>
            <a:endParaRPr sz="1000" b="1" i="0">
              <a:solidFill>
                <a:srgbClr val="07275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" y="3694176"/>
            <a:ext cx="1143000" cy="18288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4A688B"/>
                </a:solidFill>
                <a:latin typeface="Aptos"/>
              </a:rPr>
              <a:t>#0197FC</a:t>
            </a:r>
            <a:endParaRPr sz="800" b="0" i="0">
              <a:solidFill>
                <a:srgbClr val="4A688B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395728" y="2761488"/>
            <a:ext cx="1078992" cy="621792"/>
          </a:xfrm>
          <a:prstGeom prst="roundRect">
            <a:avLst/>
          </a:prstGeom>
          <a:solidFill>
            <a:srgbClr val="32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3456432"/>
            <a:ext cx="1143000" cy="201168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72753"/>
                </a:solidFill>
                <a:latin typeface="Aptos"/>
              </a:rPr>
              <a:t>Turquoise</a:t>
            </a:r>
            <a:endParaRPr sz="1000" b="1" i="0">
              <a:solidFill>
                <a:srgbClr val="07275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95728" y="3694176"/>
            <a:ext cx="1143000" cy="18288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4A688B"/>
                </a:solidFill>
                <a:latin typeface="Aptos"/>
              </a:rPr>
              <a:t>#32E4F7</a:t>
            </a:r>
            <a:endParaRPr sz="800" b="0" i="0">
              <a:solidFill>
                <a:srgbClr val="4A688B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803904" y="2761488"/>
            <a:ext cx="1078992" cy="621792"/>
          </a:xfrm>
          <a:prstGeom prst="roundRect">
            <a:avLst/>
          </a:prstGeom>
          <a:solidFill>
            <a:srgbClr val="3DD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3904" y="3456432"/>
            <a:ext cx="1143000" cy="201168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72753"/>
                </a:solidFill>
                <a:latin typeface="Aptos"/>
              </a:rPr>
              <a:t>Cyan</a:t>
            </a:r>
            <a:endParaRPr sz="1000" b="1" i="0">
              <a:solidFill>
                <a:srgbClr val="072753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03904" y="3694176"/>
            <a:ext cx="1143000" cy="18288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4A688B"/>
                </a:solidFill>
                <a:latin typeface="Aptos"/>
              </a:rPr>
              <a:t>#3DDBFD</a:t>
            </a:r>
            <a:endParaRPr sz="800" b="0" i="0">
              <a:solidFill>
                <a:srgbClr val="4A688B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87552" y="4041648"/>
            <a:ext cx="1078992" cy="62179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736592"/>
            <a:ext cx="1143000" cy="201168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72753"/>
                </a:solidFill>
                <a:latin typeface="Aptos"/>
              </a:rPr>
              <a:t>Black</a:t>
            </a:r>
            <a:endParaRPr sz="1000" b="1" i="0">
              <a:solidFill>
                <a:srgbClr val="072753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87552" y="4974336"/>
            <a:ext cx="1143000" cy="18288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4A688B"/>
                </a:solidFill>
                <a:latin typeface="Aptos"/>
              </a:rPr>
              <a:t>#000000</a:t>
            </a:r>
            <a:endParaRPr sz="800" b="0" i="0">
              <a:solidFill>
                <a:srgbClr val="4A688B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395728" y="4041648"/>
            <a:ext cx="107899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E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95728" y="4736592"/>
            <a:ext cx="1143000" cy="201168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72753"/>
                </a:solidFill>
                <a:latin typeface="Aptos"/>
              </a:rPr>
              <a:t>White</a:t>
            </a:r>
            <a:endParaRPr sz="1000" b="1" i="0">
              <a:solidFill>
                <a:srgbClr val="072753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95728" y="4974336"/>
            <a:ext cx="1143000" cy="18288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4A688B"/>
                </a:solidFill>
                <a:latin typeface="Aptos"/>
              </a:rPr>
              <a:t>#FFFFFF</a:t>
            </a:r>
            <a:endParaRPr sz="800" b="0" i="0">
              <a:solidFill>
                <a:srgbClr val="4A688B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803904" y="4041648"/>
            <a:ext cx="1078992" cy="621792"/>
          </a:xfrm>
          <a:prstGeom prst="roundRect">
            <a:avLst/>
          </a:prstGeom>
          <a:solidFill>
            <a:srgbClr val="EAF5FD"/>
          </a:solidFill>
          <a:ln>
            <a:solidFill>
              <a:srgbClr val="BE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03904" y="4736592"/>
            <a:ext cx="1143000" cy="201168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72753"/>
                </a:solidFill>
                <a:latin typeface="Aptos"/>
              </a:rPr>
              <a:t>Pale Blue</a:t>
            </a:r>
            <a:endParaRPr sz="1000" b="1" i="0">
              <a:solidFill>
                <a:srgbClr val="072753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03904" y="4974336"/>
            <a:ext cx="1143000" cy="18288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4A688B"/>
                </a:solidFill>
                <a:latin typeface="Aptos"/>
              </a:rPr>
              <a:t>#EAF5FD</a:t>
            </a:r>
            <a:endParaRPr sz="800" b="0" i="0">
              <a:solidFill>
                <a:srgbClr val="4A688B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669280" y="2057400"/>
            <a:ext cx="5806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BE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2304288"/>
            <a:ext cx="1828800" cy="22860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197FC"/>
                </a:solidFill>
                <a:latin typeface="Aptos"/>
              </a:rPr>
              <a:t>TYPOGRAPHY</a:t>
            </a:r>
            <a:endParaRPr sz="1000" b="1" i="0">
              <a:solidFill>
                <a:srgbClr val="0197FC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16752" y="2743200"/>
            <a:ext cx="2011680" cy="50292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72753"/>
                </a:solidFill>
                <a:latin typeface="Inter" panose="02000503000000020004"/>
              </a:rPr>
              <a:t>Inter</a:t>
            </a:r>
            <a:endParaRPr sz="2700" b="1" i="0">
              <a:solidFill>
                <a:srgbClr val="072753"/>
              </a:solidFill>
              <a:latin typeface="Inter" panose="020005030000000200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16752" y="3429000"/>
            <a:ext cx="4937760" cy="32004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688B"/>
                </a:solidFill>
                <a:latin typeface="Aptos"/>
              </a:rPr>
              <a:t>The design process used Inter and Poppins.</a:t>
            </a:r>
            <a:endParaRPr sz="1300" b="0" i="0">
              <a:solidFill>
                <a:srgbClr val="4A688B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016752" y="4005072"/>
            <a:ext cx="4937760" cy="32004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72753"/>
                </a:solidFill>
                <a:latin typeface="Inter" panose="02000503000000020004"/>
              </a:rPr>
              <a:t>Aa Bb Cc Dd Ee Ff Gg Hh Ii Jj Kk Ll Mm</a:t>
            </a:r>
            <a:endParaRPr sz="1400" b="0" i="0">
              <a:solidFill>
                <a:srgbClr val="072753"/>
              </a:solidFill>
              <a:latin typeface="Inter" panose="020005030000000200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016752" y="4416552"/>
            <a:ext cx="4937760" cy="250825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72753"/>
                </a:solidFill>
                <a:latin typeface="Inter" panose="02000503000000020004" charset="0"/>
                <a:cs typeface="Inter" panose="02000503000000020004" charset="0"/>
              </a:rPr>
              <a:t>Nn Oo Pp Qq Rr Ss Tt Uu Vv Ww Xx Yy Z</a:t>
            </a:r>
            <a:r>
              <a:rPr lang="en-GB" sz="1400" b="0" i="0">
                <a:solidFill>
                  <a:srgbClr val="072753"/>
                </a:solidFill>
                <a:latin typeface="Inter" panose="02000503000000020004" charset="0"/>
                <a:cs typeface="Inter" panose="02000503000000020004" charset="0"/>
              </a:rPr>
              <a:t>z</a:t>
            </a:r>
            <a:endParaRPr lang="en-GB" sz="1400" b="0" i="0">
              <a:solidFill>
                <a:srgbClr val="072753"/>
              </a:solidFill>
              <a:latin typeface="Inter" panose="02000503000000020004" charset="0"/>
              <a:cs typeface="Inter" panose="0200050300000002000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16752" y="4983480"/>
            <a:ext cx="4892040" cy="41148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A688B"/>
                </a:solidFill>
                <a:latin typeface="Aptos"/>
              </a:rPr>
              <a:t>The overall direction: simple, legible and easy to recognize.</a:t>
            </a:r>
            <a:endParaRPr sz="1200" b="0" i="0">
              <a:solidFill>
                <a:srgbClr val="4A688B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6327648"/>
            <a:ext cx="4572000" cy="182880"/>
          </a:xfrm>
          <a:prstGeom prst="rect">
            <a:avLst/>
          </a:prstGeom>
          <a:noFill/>
        </p:spPr>
        <p:txBody>
          <a:bodyPr wrap="square" lIns="22860" tIns="18288" r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A688B"/>
                </a:solidFill>
                <a:latin typeface="Aptos"/>
              </a:rPr>
              <a:t>WAVE  •  LET YOUR MONEY FLOW</a:t>
            </a:r>
            <a:endParaRPr sz="800" b="1" i="0">
              <a:solidFill>
                <a:srgbClr val="4A688B"/>
              </a:solidFill>
              <a:latin typeface="Aptos"/>
            </a:endParaRPr>
          </a:p>
        </p:txBody>
      </p:sp>
      <p:pic>
        <p:nvPicPr>
          <p:cNvPr id="6" name="Picture 5" descr="Group_10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885" y="5963285"/>
            <a:ext cx="1176655" cy="8388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71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69FF"/>
                </a:solidFill>
                <a:latin typeface="Aptos"/>
              </a:rPr>
              <a:t>WAVE</a:t>
            </a:r>
            <a:endParaRPr sz="18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"/>
            <a:ext cx="6858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THE OPPORTUNITY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02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6459"/>
          </a:xfrm>
          <a:prstGeom prst="rect">
            <a:avLst/>
          </a:prstGeom>
          <a:solidFill>
            <a:srgbClr val="B1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41944"/>
                </a:solidFill>
                <a:latin typeface="Aptos"/>
              </a:rPr>
              <a:t>Money moves. The experience is still fragmented.</a:t>
            </a:r>
            <a:endParaRPr sz="29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D6991"/>
                </a:solidFill>
                <a:latin typeface="Aptos"/>
              </a:rPr>
              <a:t>The gap is not simply access to financial services — it is how disconnected they can feel.</a:t>
            </a:r>
            <a:endParaRPr sz="1300" b="0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3520440" cy="224028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667762"/>
            <a:ext cx="31546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41944"/>
                </a:solidFill>
                <a:latin typeface="Aptos"/>
              </a:rPr>
              <a:t>01  Fragmented workflows</a:t>
            </a:r>
            <a:endParaRPr sz="16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7" y="3070098"/>
            <a:ext cx="3136392" cy="1554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Sending, saving and tracking spending can happen across different tools and experiences.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43400" y="2057400"/>
            <a:ext cx="3520440" cy="224028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043" y="2667762"/>
            <a:ext cx="31546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41944"/>
                </a:solidFill>
                <a:latin typeface="Aptos"/>
              </a:rPr>
              <a:t>02  Unclear costs</a:t>
            </a:r>
            <a:endParaRPr sz="16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35043" y="3070098"/>
            <a:ext cx="3136392" cy="1554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When fees are difficult to understand before a transaction, confidence and trust suffer.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0" y="2057400"/>
            <a:ext cx="3520440" cy="224028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576322"/>
            <a:ext cx="31546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41944"/>
                </a:solidFill>
                <a:latin typeface="Aptos"/>
              </a:rPr>
              <a:t>03  Too much complexity</a:t>
            </a:r>
            <a:endParaRPr sz="16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47888" y="2978658"/>
            <a:ext cx="3136392" cy="1554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Crypto-first interfaces can overwhelm people who simply want to manage everyday money.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4800600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69FF"/>
                </a:solidFill>
                <a:latin typeface="Aptos"/>
              </a:rPr>
              <a:t>THE RESULT</a:t>
            </a:r>
            <a:endParaRPr sz="10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10789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041944"/>
                </a:solidFill>
                <a:latin typeface="Aptos"/>
              </a:rPr>
              <a:t>People need more than another place to pay. They need a clearer view of their money.</a:t>
            </a:r>
            <a:endParaRPr sz="23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4D6991"/>
                </a:solidFill>
                <a:latin typeface="Aptos"/>
              </a:rPr>
              <a:t>THE MONEY APP FOR AFRICA  •  LET YOUR MONEY FLOW</a:t>
            </a:r>
            <a:endParaRPr sz="700" b="1" i="0">
              <a:solidFill>
                <a:srgbClr val="4D6991"/>
              </a:solidFill>
              <a:latin typeface="Aptos"/>
            </a:endParaRPr>
          </a:p>
        </p:txBody>
      </p:sp>
      <p:pic>
        <p:nvPicPr>
          <p:cNvPr id="25" name="Picture 24" descr="Group_10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1180" y="5897880"/>
            <a:ext cx="1176655" cy="8388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71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69FF"/>
                </a:solidFill>
                <a:latin typeface="Aptos"/>
              </a:rPr>
              <a:t>WAVE</a:t>
            </a:r>
            <a:endParaRPr sz="18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"/>
            <a:ext cx="6858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THE INSIGHT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03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6459"/>
          </a:xfrm>
          <a:prstGeom prst="rect">
            <a:avLst/>
          </a:prstGeom>
          <a:solidFill>
            <a:srgbClr val="B1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41944"/>
                </a:solidFill>
                <a:latin typeface="Aptos"/>
              </a:rPr>
              <a:t>The opportunity is connection.</a:t>
            </a:r>
            <a:endParaRPr sz="29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D6991"/>
                </a:solidFill>
                <a:latin typeface="Aptos"/>
              </a:rPr>
              <a:t>Wave’s competitive analysis found that transfers and savings alone are not enough to stand out.</a:t>
            </a:r>
            <a:endParaRPr sz="1300" b="0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0749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95728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D6991"/>
                </a:solidFill>
                <a:latin typeface="Aptos"/>
              </a:rPr>
              <a:t>TODAY</a:t>
            </a:r>
            <a:endParaRPr sz="11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" y="2880360"/>
            <a:ext cx="4389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41944"/>
                </a:solidFill>
                <a:latin typeface="Aptos"/>
              </a:rPr>
              <a:t>Send  •  Save  •  Spend</a:t>
            </a:r>
            <a:endParaRPr sz="24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3566160"/>
            <a:ext cx="41148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D6991"/>
                </a:solidFill>
                <a:latin typeface="Aptos"/>
              </a:rPr>
              <a:t>Useful features, often experienced as separate tasks.</a:t>
            </a:r>
            <a:endParaRPr sz="1400" b="0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5897880" y="2852928"/>
            <a:ext cx="594360" cy="640080"/>
          </a:xfrm>
          <a:prstGeom prst="chevron">
            <a:avLst/>
          </a:prstGeom>
          <a:solidFill>
            <a:srgbClr val="26D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0840" y="2103120"/>
            <a:ext cx="4709160" cy="2377440"/>
          </a:xfrm>
          <a:prstGeom prst="roundRect">
            <a:avLst/>
          </a:prstGeom>
          <a:solidFill>
            <a:srgbClr val="041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395728"/>
            <a:ext cx="1828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DEEF"/>
                </a:solidFill>
                <a:latin typeface="Aptos"/>
              </a:rPr>
              <a:t>THE WAVE IDEA</a:t>
            </a:r>
            <a:endParaRPr sz="1100" b="1" i="0">
              <a:solidFill>
                <a:srgbClr val="26DEE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0880" y="2852928"/>
            <a:ext cx="3840480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Send → Save → Spend
→ Understand</a:t>
            </a:r>
            <a:endParaRPr sz="23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0880" y="3822191"/>
            <a:ext cx="3840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One connected picture of money in motion.</a:t>
            </a:r>
            <a:endParaRPr sz="1300" b="0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1828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69FF"/>
                </a:solidFill>
                <a:latin typeface="Aptos"/>
              </a:rPr>
              <a:t>OUR POSITIONING</a:t>
            </a:r>
            <a:endParaRPr sz="10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394960"/>
            <a:ext cx="103327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41944"/>
                </a:solidFill>
                <a:latin typeface="Aptos"/>
              </a:rPr>
              <a:t>Wave gives you one clear picture of your money.</a:t>
            </a:r>
            <a:endParaRPr sz="25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4D6991"/>
                </a:solidFill>
                <a:latin typeface="Aptos"/>
              </a:rPr>
              <a:t>THE MONEY APP FOR AFRICA  •  LET YOUR MONEY FLOW</a:t>
            </a:r>
            <a:endParaRPr sz="700" b="1" i="0">
              <a:solidFill>
                <a:srgbClr val="4D6991"/>
              </a:solidFill>
              <a:latin typeface="Aptos"/>
            </a:endParaRPr>
          </a:p>
        </p:txBody>
      </p:sp>
      <p:pic>
        <p:nvPicPr>
          <p:cNvPr id="22" name="Picture 21" descr="Group_10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885" y="5908675"/>
            <a:ext cx="1176655" cy="8388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71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69FF"/>
                </a:solidFill>
                <a:latin typeface="Aptos"/>
              </a:rPr>
              <a:t>WAVE</a:t>
            </a:r>
            <a:endParaRPr sz="18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"/>
            <a:ext cx="6858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THE SOLUTION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04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6459"/>
          </a:xfrm>
          <a:prstGeom prst="rect">
            <a:avLst/>
          </a:prstGeom>
          <a:solidFill>
            <a:srgbClr val="B1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41944"/>
                </a:solidFill>
                <a:latin typeface="Aptos"/>
              </a:rPr>
              <a:t>One home for everyday money.</a:t>
            </a:r>
            <a:endParaRPr sz="29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D6991"/>
                </a:solidFill>
                <a:latin typeface="Aptos"/>
              </a:rPr>
              <a:t>A Naira-first experience that keeps the user in control and hides technical complexity.</a:t>
            </a:r>
            <a:endParaRPr sz="1300" b="0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2743200" cy="242316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832" y="2496312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41944"/>
                </a:solidFill>
                <a:latin typeface="Aptos"/>
              </a:rPr>
              <a:t>SEND</a:t>
            </a:r>
            <a:endParaRPr sz="17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832" y="2898648"/>
            <a:ext cx="2359152" cy="1737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081C43"/>
                </a:solidFill>
                <a:latin typeface="Aptos"/>
              </a:rPr>
              <a:t>Move money with familiar identifiers such as a phone number or @username.</a:t>
            </a:r>
            <a:endParaRPr sz="13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20440" y="1965960"/>
            <a:ext cx="2743200" cy="242316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4778" y="2496312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41944"/>
                </a:solidFill>
                <a:latin typeface="Aptos"/>
              </a:rPr>
              <a:t>SAVE</a:t>
            </a:r>
            <a:endParaRPr sz="17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84778" y="2898648"/>
            <a:ext cx="2359152" cy="1737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081C43"/>
                </a:solidFill>
                <a:latin typeface="Aptos"/>
              </a:rPr>
              <a:t>Build a saving habit through simple tools and automatic round-ups.</a:t>
            </a:r>
            <a:endParaRPr sz="13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0" y="1965960"/>
            <a:ext cx="2743200" cy="242316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138" y="2496312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41944"/>
                </a:solidFill>
                <a:latin typeface="Aptos"/>
              </a:rPr>
              <a:t>SPEND</a:t>
            </a:r>
            <a:endParaRPr sz="17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65138" y="2898648"/>
            <a:ext cx="2359152" cy="1737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081C43"/>
                </a:solidFill>
                <a:latin typeface="Aptos"/>
              </a:rPr>
              <a:t>Connect digital balances to everyday card spending and bill payments.</a:t>
            </a:r>
            <a:endParaRPr sz="13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281160" y="1965960"/>
            <a:ext cx="2286000" cy="242316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498" y="2496312"/>
            <a:ext cx="1920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41944"/>
                </a:solidFill>
                <a:latin typeface="Aptos"/>
              </a:rPr>
              <a:t>UNDERSTAND</a:t>
            </a:r>
            <a:endParaRPr sz="15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45498" y="2898648"/>
            <a:ext cx="1901952" cy="1737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See activity and money movement more clearly in one place.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489204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69FF"/>
                </a:solidFill>
                <a:latin typeface="Aptos"/>
              </a:rPr>
              <a:t>THE PROMISE</a:t>
            </a:r>
            <a:endParaRPr sz="10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" y="5257800"/>
            <a:ext cx="105156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041944"/>
                </a:solidFill>
                <a:latin typeface="Aptos"/>
              </a:rPr>
              <a:t>Modern financial technology — without the learning curve.</a:t>
            </a:r>
            <a:endParaRPr sz="23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4D6991"/>
                </a:solidFill>
                <a:latin typeface="Aptos"/>
              </a:rPr>
              <a:t>THE MONEY APP FOR AFRICA  •  LET YOUR MONEY FLOW</a:t>
            </a:r>
            <a:endParaRPr sz="7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006840" y="457200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rame 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1220" y="4636135"/>
            <a:ext cx="1068070" cy="1068070"/>
          </a:xfrm>
          <a:prstGeom prst="rect">
            <a:avLst/>
          </a:prstGeom>
        </p:spPr>
      </p:pic>
      <p:pic>
        <p:nvPicPr>
          <p:cNvPr id="32" name="Picture 31" descr="Group_101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885" y="5874385"/>
            <a:ext cx="1176655" cy="8388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71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69FF"/>
                </a:solidFill>
                <a:latin typeface="Aptos"/>
              </a:rPr>
              <a:t>WAVE</a:t>
            </a:r>
            <a:endParaRPr sz="18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"/>
            <a:ext cx="6858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PRODUCT EXPERIENCE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05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6459"/>
          </a:xfrm>
          <a:prstGeom prst="rect">
            <a:avLst/>
          </a:prstGeom>
          <a:solidFill>
            <a:srgbClr val="B1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41944"/>
                </a:solidFill>
                <a:latin typeface="Aptos"/>
              </a:rPr>
              <a:t>Designed around what people actually do.</a:t>
            </a:r>
            <a:endParaRPr sz="29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D6991"/>
                </a:solidFill>
                <a:latin typeface="Aptos"/>
              </a:rPr>
              <a:t>Keep the main actions simple; show costs and activity clearly.</a:t>
            </a:r>
            <a:endParaRPr sz="1300" b="0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85800" y="2672715"/>
            <a:ext cx="658368" cy="658368"/>
          </a:xfrm>
          <a:prstGeom prst="ellipse">
            <a:avLst/>
          </a:prstGeom>
          <a:solidFill>
            <a:srgbClr val="00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73883"/>
            <a:ext cx="6583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  <a:endParaRPr sz="13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3587115"/>
            <a:ext cx="24688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41944"/>
                </a:solidFill>
                <a:latin typeface="Aptos"/>
              </a:rPr>
              <a:t>Open Wave</a:t>
            </a:r>
            <a:endParaRPr sz="17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4135755"/>
            <a:ext cx="2468880" cy="9601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081C43"/>
                </a:solidFill>
                <a:latin typeface="Aptos"/>
              </a:rPr>
              <a:t>A clean, approachable Naira-first home screen.</a:t>
            </a:r>
            <a:endParaRPr sz="13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2275205" y="2828163"/>
            <a:ext cx="384048" cy="320040"/>
          </a:xfrm>
          <a:prstGeom prst="chevron">
            <a:avLst/>
          </a:prstGeom>
          <a:solidFill>
            <a:srgbClr val="B1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6160" y="2672715"/>
            <a:ext cx="658368" cy="658368"/>
          </a:xfrm>
          <a:prstGeom prst="ellipse">
            <a:avLst/>
          </a:prstGeom>
          <a:solidFill>
            <a:srgbClr val="26D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873883"/>
            <a:ext cx="6583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41944"/>
                </a:solidFill>
                <a:latin typeface="Aptos"/>
              </a:rPr>
              <a:t>02</a:t>
            </a:r>
            <a:endParaRPr sz="13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3587115"/>
            <a:ext cx="24688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41944"/>
                </a:solidFill>
                <a:latin typeface="Aptos"/>
              </a:rPr>
              <a:t>Choose an action</a:t>
            </a:r>
            <a:endParaRPr sz="17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66160" y="4135755"/>
            <a:ext cx="2468880" cy="9601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081C43"/>
                </a:solidFill>
                <a:latin typeface="Aptos"/>
              </a:rPr>
              <a:t>Send, save or spend from one connected experience.</a:t>
            </a:r>
            <a:endParaRPr sz="13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17" name="Chevron 16"/>
          <p:cNvSpPr/>
          <p:nvPr/>
        </p:nvSpPr>
        <p:spPr>
          <a:xfrm>
            <a:off x="5155565" y="2828163"/>
            <a:ext cx="384048" cy="320040"/>
          </a:xfrm>
          <a:prstGeom prst="chevron">
            <a:avLst/>
          </a:prstGeom>
          <a:solidFill>
            <a:srgbClr val="B1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0" y="2672715"/>
            <a:ext cx="658368" cy="658368"/>
          </a:xfrm>
          <a:prstGeom prst="ellipse">
            <a:avLst/>
          </a:prstGeom>
          <a:solidFill>
            <a:srgbClr val="00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873883"/>
            <a:ext cx="6583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  <a:endParaRPr sz="13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587115"/>
            <a:ext cx="24688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41944"/>
                </a:solidFill>
                <a:latin typeface="Aptos"/>
              </a:rPr>
              <a:t>See the details</a:t>
            </a:r>
            <a:endParaRPr sz="17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46520" y="4135755"/>
            <a:ext cx="2468880" cy="9601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081C43"/>
                </a:solidFill>
                <a:latin typeface="Aptos"/>
              </a:rPr>
              <a:t>Review fees, total deducted and recipient amount before confirming.</a:t>
            </a:r>
            <a:endParaRPr sz="13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8035925" y="2828163"/>
            <a:ext cx="384048" cy="320040"/>
          </a:xfrm>
          <a:prstGeom prst="chevron">
            <a:avLst/>
          </a:prstGeom>
          <a:solidFill>
            <a:srgbClr val="B1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0" y="2672715"/>
            <a:ext cx="658368" cy="658368"/>
          </a:xfrm>
          <a:prstGeom prst="ellipse">
            <a:avLst/>
          </a:prstGeom>
          <a:solidFill>
            <a:srgbClr val="26D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873883"/>
            <a:ext cx="6583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41944"/>
                </a:solidFill>
                <a:latin typeface="Aptos"/>
              </a:rPr>
              <a:t>04</a:t>
            </a:r>
            <a:endParaRPr sz="13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26880" y="3587115"/>
            <a:ext cx="24688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41944"/>
                </a:solidFill>
                <a:latin typeface="Aptos"/>
              </a:rPr>
              <a:t>Understand the flow</a:t>
            </a:r>
            <a:endParaRPr sz="17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26880" y="4135755"/>
            <a:ext cx="2468880" cy="9601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081C43"/>
                </a:solidFill>
                <a:latin typeface="Aptos"/>
              </a:rPr>
              <a:t>Use visible activity and insights to follow where money goes.</a:t>
            </a:r>
            <a:endParaRPr sz="13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31520" y="5614670"/>
            <a:ext cx="107899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824982"/>
            <a:ext cx="13716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69FF"/>
                </a:solidFill>
                <a:latin typeface="Aptos"/>
              </a:rPr>
              <a:t>WAVE RULE</a:t>
            </a:r>
            <a:endParaRPr sz="10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94560" y="5770118"/>
            <a:ext cx="8686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41944"/>
                </a:solidFill>
                <a:latin typeface="Aptos"/>
              </a:rPr>
              <a:t>If a 15-year-old can’t explain it in 10 seconds, simplify it.</a:t>
            </a:r>
            <a:endParaRPr sz="17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4D6991"/>
                </a:solidFill>
                <a:latin typeface="Aptos"/>
              </a:rPr>
              <a:t>THE MONEY APP FOR AFRICA  •  LET YOUR MONEY FLOW</a:t>
            </a:r>
            <a:endParaRPr sz="700" b="1" i="0">
              <a:solidFill>
                <a:srgbClr val="4D699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71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69FF"/>
                </a:solidFill>
                <a:latin typeface="Aptos"/>
              </a:rPr>
              <a:t>WAVE</a:t>
            </a:r>
            <a:endParaRPr sz="18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"/>
            <a:ext cx="6858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TARGET MARKET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06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6459"/>
          </a:xfrm>
          <a:prstGeom prst="rect">
            <a:avLst/>
          </a:prstGeom>
          <a:solidFill>
            <a:srgbClr val="B1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41944"/>
                </a:solidFill>
                <a:latin typeface="Aptos"/>
              </a:rPr>
              <a:t>Start with digitally active Nigerians.</a:t>
            </a:r>
            <a:endParaRPr sz="29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D6991"/>
                </a:solidFill>
                <a:latin typeface="Aptos"/>
              </a:rPr>
              <a:t>Wave’s initial go-to-market is consumer-first: prove repeat everyday use before expanding.</a:t>
            </a:r>
            <a:endParaRPr sz="1300" b="0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2175510"/>
            <a:ext cx="3474720" cy="150876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596007"/>
            <a:ext cx="31089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41944"/>
                </a:solidFill>
                <a:latin typeface="Aptos"/>
              </a:rPr>
              <a:t>Students &amp; young adults</a:t>
            </a:r>
            <a:endParaRPr sz="15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" y="2998343"/>
            <a:ext cx="3090672" cy="822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Frequent transfers, tight budgets and a need for clarity.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43400" y="2175510"/>
            <a:ext cx="3474720" cy="150876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596007"/>
            <a:ext cx="31089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41944"/>
                </a:solidFill>
                <a:latin typeface="Aptos"/>
              </a:rPr>
              <a:t>Young professionals</a:t>
            </a:r>
            <a:endParaRPr sz="15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44568" y="2998343"/>
            <a:ext cx="3090672" cy="822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Manage income, bills, spending and savings in one flow.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01000" y="2175510"/>
            <a:ext cx="3474720" cy="150876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2596007"/>
            <a:ext cx="31089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41944"/>
                </a:solidFill>
                <a:latin typeface="Aptos"/>
              </a:rPr>
              <a:t>Freelancers &amp; creators</a:t>
            </a:r>
            <a:endParaRPr sz="15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02168" y="2998343"/>
            <a:ext cx="3090672" cy="822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Receive digital income and organise funds more clearly.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5800" y="3912870"/>
            <a:ext cx="3474720" cy="150876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333366"/>
            <a:ext cx="31089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41944"/>
                </a:solidFill>
                <a:latin typeface="Aptos"/>
              </a:rPr>
              <a:t>First-time FinTech users</a:t>
            </a:r>
            <a:endParaRPr sz="15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6968" y="4735703"/>
            <a:ext cx="3090672" cy="822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A familiar experience without crypto jargon.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43400" y="3912870"/>
            <a:ext cx="3474720" cy="150876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4333366"/>
            <a:ext cx="31089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41944"/>
                </a:solidFill>
                <a:latin typeface="Aptos"/>
              </a:rPr>
              <a:t>Mobile-first consumers</a:t>
            </a:r>
            <a:endParaRPr sz="15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44568" y="4735703"/>
            <a:ext cx="3090672" cy="822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Expect fast, simple smartphone experiences.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01000" y="3912870"/>
            <a:ext cx="3474720" cy="150876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2168" y="4333366"/>
            <a:ext cx="31089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41944"/>
                </a:solidFill>
                <a:latin typeface="Aptos"/>
              </a:rPr>
              <a:t>Future SMEs</a:t>
            </a:r>
            <a:endParaRPr sz="15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02168" y="4735703"/>
            <a:ext cx="3090672" cy="822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Potential expansion into merchant collections and payments.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4D6991"/>
                </a:solidFill>
                <a:latin typeface="Aptos"/>
              </a:rPr>
              <a:t>THE MONEY APP FOR AFRICA  •  LET YOUR MONEY FLOW</a:t>
            </a:r>
            <a:endParaRPr sz="700" b="1" i="0">
              <a:solidFill>
                <a:srgbClr val="4D6991"/>
              </a:solidFill>
              <a:latin typeface="Aptos"/>
            </a:endParaRPr>
          </a:p>
        </p:txBody>
      </p:sp>
      <p:pic>
        <p:nvPicPr>
          <p:cNvPr id="35" name="Picture 34" descr="Group_10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885" y="5699125"/>
            <a:ext cx="1176655" cy="8388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9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71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WAVE</a:t>
            </a:r>
            <a:endParaRPr sz="18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"/>
            <a:ext cx="6858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WHY NOW</a:t>
            </a:r>
            <a:endParaRPr sz="9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07</a:t>
            </a:r>
            <a:endParaRPr sz="9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6459"/>
          </a:xfrm>
          <a:prstGeom prst="rect">
            <a:avLst/>
          </a:prstGeom>
          <a:solidFill>
            <a:srgbClr val="B1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41944"/>
                </a:solidFill>
                <a:latin typeface="Aptos"/>
              </a:rPr>
              <a:t>Digital payments are already familiar.</a:t>
            </a:r>
            <a:endParaRPr sz="29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155448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D6991"/>
                </a:solidFill>
                <a:latin typeface="Aptos"/>
              </a:rPr>
              <a:t>Wave’s opportunity is to improve the connected experience around them.</a:t>
            </a:r>
            <a:endParaRPr sz="1300" b="0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64008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The behaviour is already changing.</a:t>
            </a:r>
            <a:endParaRPr sz="27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640080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Aptos"/>
              </a:rPr>
              <a:t>CBN figures cited in the Wave pitch script report more than 5.6 billion NIP transactions worth ₦476.89 trillion in H1 2024.</a:t>
            </a:r>
            <a:endParaRPr sz="1700" b="0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09560" y="2514600"/>
            <a:ext cx="301752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26DEEF"/>
                </a:solidFill>
                <a:latin typeface="Aptos"/>
              </a:rPr>
              <a:t>3.49B</a:t>
            </a:r>
            <a:endParaRPr sz="3400" b="1" i="0">
              <a:solidFill>
                <a:srgbClr val="26DEE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26679" y="3246120"/>
            <a:ext cx="338328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mobile-payment transactions
reported in H1 2024</a:t>
            </a:r>
            <a:endParaRPr sz="1400" b="0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5166360"/>
            <a:ext cx="105156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BEDCFF"/>
                </a:solidFill>
                <a:latin typeface="Aptos"/>
              </a:rPr>
              <a:t>Source figures from the supplied Wave pitch script; verify against original CBN publications before external use.</a:t>
            </a:r>
            <a:endParaRPr sz="1000" b="0" i="1">
              <a:solidFill>
                <a:srgbClr val="BEDC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4D6991"/>
                </a:solidFill>
                <a:latin typeface="Aptos"/>
              </a:rPr>
              <a:t>THE MONEY APP FOR AFRICA  •  LET YOUR MONEY FLOW</a:t>
            </a:r>
            <a:endParaRPr sz="700" b="1" i="0">
              <a:solidFill>
                <a:srgbClr val="4D6991"/>
              </a:solidFill>
              <a:latin typeface="Aptos"/>
            </a:endParaRPr>
          </a:p>
        </p:txBody>
      </p:sp>
      <p:pic>
        <p:nvPicPr>
          <p:cNvPr id="16" name="Picture 15" descr="Group_10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885" y="5699125"/>
            <a:ext cx="1176655" cy="8388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71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69FF"/>
                </a:solidFill>
                <a:latin typeface="Aptos"/>
              </a:rPr>
              <a:t>WAVE</a:t>
            </a:r>
            <a:endParaRPr sz="18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"/>
            <a:ext cx="6858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FINANCIAL OUTLOOK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11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6459"/>
          </a:xfrm>
          <a:prstGeom prst="rect">
            <a:avLst/>
          </a:prstGeom>
          <a:solidFill>
            <a:srgbClr val="B1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41944"/>
                </a:solidFill>
                <a:latin typeface="Aptos"/>
              </a:rPr>
              <a:t>A clear path to testing the economics.</a:t>
            </a:r>
            <a:endParaRPr sz="29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10881360" cy="23558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D6991"/>
                </a:solidFill>
                <a:latin typeface="Aptos"/>
              </a:rPr>
              <a:t>Base-case</a:t>
            </a:r>
            <a:r>
              <a:rPr lang="en-GB" sz="1300" b="0" i="0">
                <a:solidFill>
                  <a:srgbClr val="4D6991"/>
                </a:solidFill>
                <a:latin typeface="Aptos"/>
              </a:rPr>
              <a:t> Scenarios backed by yearly</a:t>
            </a:r>
            <a:r>
              <a:rPr sz="1300" b="0" i="0">
                <a:solidFill>
                  <a:srgbClr val="4D6991"/>
                </a:solidFill>
                <a:latin typeface="Aptos"/>
              </a:rPr>
              <a:t> estimates from the supplied Wave Financial Research; transfer fees only.</a:t>
            </a:r>
            <a:endParaRPr sz="1300" b="0" i="0">
              <a:solidFill>
                <a:srgbClr val="4D6991"/>
              </a:solidFill>
              <a:latin typeface="Apto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828800"/>
          <a:ext cx="73152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44195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109728" marR="73152" marT="36576" marB="18288">
                    <a:solidFill>
                      <a:srgbClr val="0419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Year 1</a:t>
                      </a:r>
                    </a:p>
                  </a:txBody>
                  <a:tcPr marL="109728" marR="73152" marT="36576" marB="18288">
                    <a:solidFill>
                      <a:srgbClr val="0419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Year 2</a:t>
                      </a:r>
                    </a:p>
                  </a:txBody>
                  <a:tcPr marL="109728" marR="73152" marT="36576" marB="18288">
                    <a:solidFill>
                      <a:srgbClr val="041944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Active users</a:t>
                      </a:r>
                    </a:p>
                  </a:txBody>
                  <a:tcPr marL="109728" marR="73152" marT="36576" marB="18288">
                    <a:solidFill>
                      <a:srgbClr val="E6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20,000</a:t>
                      </a:r>
                    </a:p>
                  </a:txBody>
                  <a:tcPr marL="109728" marR="73152" marT="36576" marB="18288">
                    <a:solidFill>
                      <a:srgbClr val="E6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60,000</a:t>
                      </a:r>
                    </a:p>
                  </a:txBody>
                  <a:tcPr marL="109728" marR="73152" marT="36576" marB="18288">
                    <a:solidFill>
                      <a:srgbClr val="E6F6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Annual transactions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960,000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3,600,000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Transaction value</a:t>
                      </a:r>
                    </a:p>
                  </a:txBody>
                  <a:tcPr marL="109728" marR="73152" marT="36576" marB="18288">
                    <a:solidFill>
                      <a:srgbClr val="E6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₦24.0B</a:t>
                      </a:r>
                    </a:p>
                  </a:txBody>
                  <a:tcPr marL="109728" marR="73152" marT="36576" marB="18288">
                    <a:solidFill>
                      <a:srgbClr val="E6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₦99.0B</a:t>
                      </a:r>
                    </a:p>
                  </a:txBody>
                  <a:tcPr marL="109728" marR="73152" marT="36576" marB="18288">
                    <a:solidFill>
                      <a:srgbClr val="E6F6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Transfer-fee revenue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₦24.0M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₦97.2M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Direct transaction costs</a:t>
                      </a:r>
                    </a:p>
                  </a:txBody>
                  <a:tcPr marL="109728" marR="73152" marT="36576" marB="18288">
                    <a:solidFill>
                      <a:srgbClr val="E6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₦7.68M</a:t>
                      </a:r>
                    </a:p>
                  </a:txBody>
                  <a:tcPr marL="109728" marR="73152" marT="36576" marB="18288">
                    <a:solidFill>
                      <a:srgbClr val="E6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₦30.6M</a:t>
                      </a:r>
                    </a:p>
                  </a:txBody>
                  <a:tcPr marL="109728" marR="73152" marT="36576" marB="18288">
                    <a:solidFill>
                      <a:srgbClr val="E6F6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Gross contribution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₦16.32M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₦66.6M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Operating expenses</a:t>
                      </a:r>
                    </a:p>
                  </a:txBody>
                  <a:tcPr marL="109728" marR="73152" marT="36576" marB="18288">
                    <a:solidFill>
                      <a:srgbClr val="E6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₦112.9M</a:t>
                      </a:r>
                    </a:p>
                  </a:txBody>
                  <a:tcPr marL="109728" marR="73152" marT="36576" marB="18288">
                    <a:solidFill>
                      <a:srgbClr val="E6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81C43"/>
                          </a:solidFill>
                          <a:latin typeface="Aptos"/>
                        </a:defRPr>
                      </a:pPr>
                      <a:r>
                        <a:t>₦162.0M</a:t>
                      </a:r>
                    </a:p>
                  </a:txBody>
                  <a:tcPr marL="109728" marR="73152" marT="36576" marB="18288">
                    <a:solidFill>
                      <a:srgbClr val="E6F6FF"/>
                    </a:solidFill>
                  </a:tcPr>
                </a:tc>
              </a:tr>
              <a:tr h="44196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41944"/>
                          </a:solidFill>
                          <a:latin typeface="Aptos"/>
                        </a:defRPr>
                      </a:pPr>
                      <a:r>
                        <a:t>Operating result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41944"/>
                          </a:solidFill>
                          <a:latin typeface="Aptos"/>
                        </a:defRPr>
                      </a:pPr>
                      <a:r>
                        <a:t>−₦96.58M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41944"/>
                          </a:solidFill>
                          <a:latin typeface="Aptos"/>
                        </a:defRPr>
                      </a:pPr>
                      <a:r>
                        <a:t>−₦95.4M</a:t>
                      </a:r>
                    </a:p>
                  </a:txBody>
                  <a:tcPr marL="109728" marR="73152" marT="36576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58200" y="1874519"/>
            <a:ext cx="2971800" cy="3931920"/>
          </a:xfrm>
          <a:prstGeom prst="roundRect">
            <a:avLst/>
          </a:prstGeom>
          <a:solidFill>
            <a:srgbClr val="041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94560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6DEEF"/>
                </a:solidFill>
                <a:latin typeface="Aptos"/>
              </a:rPr>
              <a:t>KEY TAKEAWAY</a:t>
            </a:r>
            <a:endParaRPr sz="1000" b="1" i="0">
              <a:solidFill>
                <a:srgbClr val="26DEE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32520" y="2697480"/>
            <a:ext cx="2331720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Growth alone won’t solve the economics.</a:t>
            </a:r>
            <a:endParaRPr sz="21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32520" y="3794760"/>
            <a:ext cx="2331720" cy="1371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The model shows operating losses in both years. Wave must validate pricing, partner costs, retention and additional revenue streams.</a:t>
            </a:r>
            <a:endParaRPr sz="1200" b="0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5989320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4D6991"/>
                </a:solidFill>
                <a:latin typeface="Aptos"/>
              </a:rPr>
              <a:t>All figures are planning assumptions, not audited results or guaranteed forecasts.</a:t>
            </a:r>
            <a:endParaRPr sz="900" b="0" i="1">
              <a:solidFill>
                <a:srgbClr val="4D699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4D6991"/>
                </a:solidFill>
                <a:latin typeface="Aptos"/>
              </a:rPr>
              <a:t>THE MONEY APP FOR AFRICA  •  LET YOUR MONEY FLOW</a:t>
            </a:r>
            <a:endParaRPr sz="700" b="1" i="0">
              <a:solidFill>
                <a:srgbClr val="4D6991"/>
              </a:solidFill>
              <a:latin typeface="Aptos"/>
            </a:endParaRPr>
          </a:p>
        </p:txBody>
      </p:sp>
      <p:pic>
        <p:nvPicPr>
          <p:cNvPr id="17" name="Picture 16" descr="Group_10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885" y="5929630"/>
            <a:ext cx="1176655" cy="8388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71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69FF"/>
                </a:solidFill>
                <a:latin typeface="Aptos"/>
              </a:rPr>
              <a:t>WAVE</a:t>
            </a:r>
            <a:endParaRPr sz="18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"/>
            <a:ext cx="6858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COMPETITIVE LANDSCAPE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08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6459"/>
          </a:xfrm>
          <a:prstGeom prst="rect">
            <a:avLst/>
          </a:prstGeom>
          <a:solidFill>
            <a:srgbClr val="B1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4813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900" b="1" i="0">
                <a:solidFill>
                  <a:srgbClr val="041944"/>
                </a:solidFill>
                <a:latin typeface="Aptos"/>
              </a:rPr>
              <a:t>Why we’re different</a:t>
            </a:r>
            <a:endParaRPr lang="en-GB" sz="29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D6991"/>
                </a:solidFill>
                <a:latin typeface="Aptos"/>
              </a:rPr>
              <a:t>Wave’s own competitive review identifies strong incumbents with overlapping financial features.</a:t>
            </a:r>
            <a:endParaRPr sz="1300" b="0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521207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41944"/>
                </a:solidFill>
                <a:latin typeface="Aptos"/>
              </a:rPr>
              <a:t>PalmPay</a:t>
            </a:r>
            <a:endParaRPr sz="13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63240" y="1965960"/>
            <a:ext cx="55778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Everyday-finance ecosystem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0" y="1965960"/>
            <a:ext cx="1554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0069FF"/>
                </a:solidFill>
                <a:latin typeface="Aptos"/>
              </a:rPr>
              <a:t>HIGH</a:t>
            </a:r>
            <a:endParaRPr sz="10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2487168"/>
            <a:ext cx="10698480" cy="521207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24327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41944"/>
                </a:solidFill>
                <a:latin typeface="Aptos"/>
              </a:rPr>
              <a:t>Moniepoint</a:t>
            </a:r>
            <a:endParaRPr sz="13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63240" y="2624327"/>
            <a:ext cx="55778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Banking and transaction infrastructure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18320" y="2624327"/>
            <a:ext cx="1554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CD5046"/>
                </a:solidFill>
                <a:latin typeface="Aptos"/>
              </a:rPr>
              <a:t>VERY HIGH</a:t>
            </a:r>
            <a:endParaRPr sz="1000" b="1" i="0">
              <a:solidFill>
                <a:srgbClr val="CD5046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3145536"/>
            <a:ext cx="10698480" cy="521207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82696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41944"/>
                </a:solidFill>
                <a:latin typeface="Aptos"/>
              </a:rPr>
              <a:t>Kuda</a:t>
            </a:r>
            <a:endParaRPr sz="13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63240" y="3282696"/>
            <a:ext cx="55778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Digital banking experience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18320" y="3282696"/>
            <a:ext cx="1554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0069FF"/>
                </a:solidFill>
                <a:latin typeface="Aptos"/>
              </a:rPr>
              <a:t>HIGH</a:t>
            </a:r>
            <a:endParaRPr sz="10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1520" y="3803904"/>
            <a:ext cx="10698480" cy="521207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941064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41944"/>
                </a:solidFill>
                <a:latin typeface="Aptos"/>
              </a:rPr>
              <a:t>PiggyVest</a:t>
            </a:r>
            <a:endParaRPr sz="13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63240" y="3941064"/>
            <a:ext cx="55778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Savings and wealth building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18320" y="3941064"/>
            <a:ext cx="1554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0069FF"/>
                </a:solidFill>
                <a:latin typeface="Aptos"/>
              </a:rPr>
              <a:t>MEDIUM</a:t>
            </a:r>
            <a:endParaRPr sz="10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31520" y="4462272"/>
            <a:ext cx="10698480" cy="521207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599432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41944"/>
                </a:solidFill>
                <a:latin typeface="Aptos"/>
              </a:rPr>
              <a:t>Cowrywise</a:t>
            </a:r>
            <a:endParaRPr sz="13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63240" y="4599432"/>
            <a:ext cx="55778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Automated savings and investing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18320" y="4599432"/>
            <a:ext cx="1554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0069FF"/>
                </a:solidFill>
                <a:latin typeface="Aptos"/>
              </a:rPr>
              <a:t>MEDIUM</a:t>
            </a:r>
            <a:endParaRPr sz="10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960" y="5486400"/>
            <a:ext cx="106070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41944"/>
                </a:solidFill>
                <a:latin typeface="Aptos"/>
              </a:rPr>
              <a:t>Wave’s opportunity: connect the actions and give users one clear picture of their money.</a:t>
            </a:r>
            <a:endParaRPr sz="18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4D6991"/>
                </a:solidFill>
                <a:latin typeface="Aptos"/>
              </a:rPr>
              <a:t>THE MONEY APP FOR AFRICA  •  LET YOUR MONEY FLOW</a:t>
            </a:r>
            <a:endParaRPr sz="700" b="1" i="0">
              <a:solidFill>
                <a:srgbClr val="4D6991"/>
              </a:solidFill>
              <a:latin typeface="Aptos"/>
            </a:endParaRPr>
          </a:p>
        </p:txBody>
      </p:sp>
      <p:pic>
        <p:nvPicPr>
          <p:cNvPr id="32" name="Picture 31" descr="Group_10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885" y="5699125"/>
            <a:ext cx="1176655" cy="8388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71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69FF"/>
                </a:solidFill>
                <a:latin typeface="Aptos"/>
              </a:rPr>
              <a:t>WAVE</a:t>
            </a:r>
            <a:endParaRPr sz="18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"/>
            <a:ext cx="6858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TRACTION &amp; VALIDATION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10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6459"/>
          </a:xfrm>
          <a:prstGeom prst="rect">
            <a:avLst/>
          </a:prstGeom>
          <a:solidFill>
            <a:srgbClr val="B1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4813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41944"/>
                </a:solidFill>
                <a:latin typeface="Aptos"/>
              </a:rPr>
              <a:t>Bui</a:t>
            </a:r>
            <a:r>
              <a:rPr lang="en-GB" sz="2900" b="1" i="0">
                <a:solidFill>
                  <a:srgbClr val="041944"/>
                </a:solidFill>
                <a:latin typeface="Aptos"/>
              </a:rPr>
              <a:t>ld Traction </a:t>
            </a:r>
            <a:r>
              <a:rPr sz="2900" b="1" i="0">
                <a:solidFill>
                  <a:srgbClr val="041944"/>
                </a:solidFill>
                <a:latin typeface="Aptos"/>
              </a:rPr>
              <a:t>before scaling.</a:t>
            </a:r>
            <a:endParaRPr sz="29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D6991"/>
                </a:solidFill>
                <a:latin typeface="Aptos"/>
              </a:rPr>
              <a:t>Current position: product design and informational website established; MVP under development.</a:t>
            </a:r>
            <a:endParaRPr sz="1300" b="0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2560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423160"/>
            <a:ext cx="23317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 i="0">
                <a:solidFill>
                  <a:srgbClr val="0069FF"/>
                </a:solidFill>
                <a:latin typeface="Aptos"/>
              </a:rPr>
              <a:t>500+</a:t>
            </a:r>
            <a:endParaRPr sz="29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8" y="3035808"/>
            <a:ext cx="23317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D6991"/>
                </a:solidFill>
                <a:latin typeface="Aptos"/>
              </a:rPr>
              <a:t>beta users</a:t>
            </a:r>
            <a:endParaRPr sz="12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566160" y="2148840"/>
            <a:ext cx="2560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2423160"/>
            <a:ext cx="23317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 i="0">
                <a:solidFill>
                  <a:srgbClr val="041944"/>
                </a:solidFill>
                <a:latin typeface="Aptos"/>
              </a:rPr>
              <a:t>200+</a:t>
            </a:r>
            <a:endParaRPr sz="29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75887" y="3035808"/>
            <a:ext cx="23317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D6991"/>
                </a:solidFill>
                <a:latin typeface="Aptos"/>
              </a:rPr>
              <a:t>monthly active users</a:t>
            </a:r>
            <a:endParaRPr sz="12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46520" y="2148840"/>
            <a:ext cx="2560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423160"/>
            <a:ext cx="23317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 i="0">
                <a:solidFill>
                  <a:srgbClr val="0069FF"/>
                </a:solidFill>
                <a:latin typeface="Aptos"/>
              </a:rPr>
              <a:t>2,000+</a:t>
            </a:r>
            <a:endParaRPr sz="29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56248" y="3035808"/>
            <a:ext cx="23317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D6991"/>
                </a:solidFill>
                <a:latin typeface="Aptos"/>
              </a:rPr>
              <a:t>transactions</a:t>
            </a:r>
            <a:endParaRPr sz="12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326880" y="2148840"/>
            <a:ext cx="2560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36607" y="2423160"/>
            <a:ext cx="23317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 i="0">
                <a:solidFill>
                  <a:srgbClr val="041944"/>
                </a:solidFill>
                <a:latin typeface="Aptos"/>
              </a:rPr>
              <a:t>10%</a:t>
            </a:r>
            <a:endParaRPr sz="29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36607" y="3035808"/>
            <a:ext cx="23317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D6991"/>
                </a:solidFill>
                <a:latin typeface="Aptos"/>
              </a:rPr>
              <a:t>active users on WAVE+</a:t>
            </a:r>
            <a:endParaRPr sz="12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69FF"/>
                </a:solidFill>
                <a:latin typeface="Aptos"/>
              </a:rPr>
              <a:t>WHAT WE WILL TEST</a:t>
            </a:r>
            <a:endParaRPr sz="10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10424160" cy="1325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81C43"/>
                </a:solidFill>
                <a:latin typeface="Aptos"/>
              </a:defRPr>
            </a:pPr>
            <a:r>
              <a:t>•  Activation: can a first-time user complete a transfer?</a:t>
            </a:r>
          </a:p>
          <a:p>
            <a:pPr>
              <a:spcAft>
                <a:spcPts val="400"/>
              </a:spcAft>
              <a:defRPr sz="1400">
                <a:solidFill>
                  <a:srgbClr val="081C43"/>
                </a:solidFill>
                <a:latin typeface="Aptos"/>
              </a:defRPr>
            </a:pPr>
            <a:r>
              <a:t>•  Retention: do users return to send, save or spend again?</a:t>
            </a:r>
          </a:p>
          <a:p>
            <a:pPr>
              <a:spcAft>
                <a:spcPts val="400"/>
              </a:spcAft>
              <a:defRPr sz="1400">
                <a:solidFill>
                  <a:srgbClr val="081C43"/>
                </a:solidFill>
                <a:latin typeface="Aptos"/>
              </a:defRPr>
            </a:pPr>
            <a:r>
              <a:t>•  Trust: do users understand and accept the fees?</a:t>
            </a:r>
          </a:p>
          <a:p>
            <a:pPr>
              <a:spcAft>
                <a:spcPts val="400"/>
              </a:spcAft>
              <a:defRPr sz="1400">
                <a:solidFill>
                  <a:srgbClr val="081C43"/>
                </a:solidFill>
                <a:latin typeface="Aptos"/>
              </a:defRPr>
            </a:pPr>
            <a:r>
              <a:t>•  Monetisation: will frequent users pay for WAVE+?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89320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4D6991"/>
                </a:solidFill>
                <a:latin typeface="Aptos"/>
              </a:rPr>
              <a:t>Targets, not current achievements. No production user or revenue traction is reported in the source.</a:t>
            </a:r>
            <a:endParaRPr sz="900" b="0" i="1">
              <a:solidFill>
                <a:srgbClr val="4D699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4D6991"/>
                </a:solidFill>
                <a:latin typeface="Aptos"/>
              </a:rPr>
              <a:t>THE MONEY APP FOR AFRICA  •  LET YOUR MONEY FLOW</a:t>
            </a:r>
            <a:endParaRPr sz="700" b="1" i="0">
              <a:solidFill>
                <a:srgbClr val="4D6991"/>
              </a:solidFill>
              <a:latin typeface="Aptos"/>
            </a:endParaRPr>
          </a:p>
        </p:txBody>
      </p:sp>
      <p:pic>
        <p:nvPicPr>
          <p:cNvPr id="26" name="Picture 25" descr="Group_10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885" y="5699125"/>
            <a:ext cx="1176655" cy="8388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71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69FF"/>
                </a:solidFill>
                <a:latin typeface="Aptos"/>
              </a:rPr>
              <a:t>WAVE</a:t>
            </a:r>
            <a:endParaRPr sz="18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"/>
            <a:ext cx="6858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BUSINESS MODEL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09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6459"/>
          </a:xfrm>
          <a:prstGeom prst="rect">
            <a:avLst/>
          </a:prstGeom>
          <a:solidFill>
            <a:srgbClr val="B1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41944"/>
                </a:solidFill>
                <a:latin typeface="Aptos"/>
              </a:rPr>
              <a:t>Monetise everyday activity — transparently.</a:t>
            </a:r>
            <a:endParaRPr sz="29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D6991"/>
                </a:solidFill>
                <a:latin typeface="Aptos"/>
              </a:rPr>
              <a:t>The primary financial projection is built around sender-paid transfer fees that increase by transfer size.</a:t>
            </a:r>
            <a:endParaRPr sz="1300" b="0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237739"/>
            <a:ext cx="3383280" cy="150876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16962"/>
            <a:ext cx="30175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41944"/>
                </a:solidFill>
                <a:latin typeface="Aptos"/>
              </a:rPr>
              <a:t>Transfer fees</a:t>
            </a:r>
            <a:endParaRPr sz="15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3019298"/>
            <a:ext cx="2999232" cy="822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Illustrative bands: ₦10 / ₦25 / ₦50 / ₦75 by transfer size.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9120" y="2237739"/>
            <a:ext cx="3383280" cy="150876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529967"/>
            <a:ext cx="30175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41944"/>
                </a:solidFill>
                <a:latin typeface="Aptos"/>
              </a:rPr>
              <a:t>Card &amp; bill activity</a:t>
            </a:r>
            <a:endParaRPr sz="15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90288" y="2932303"/>
            <a:ext cx="2999232" cy="822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Potential card-related fees and bill-payment commissions as the product expands.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0" y="2237739"/>
            <a:ext cx="3383280" cy="150876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530602"/>
            <a:ext cx="30175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41944"/>
                </a:solidFill>
                <a:latin typeface="Aptos"/>
              </a:rPr>
              <a:t>WAVE+</a:t>
            </a:r>
            <a:endParaRPr sz="15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47888" y="2932938"/>
            <a:ext cx="2999232" cy="822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Proposed ₦500/month subscription for 10 fee-free transfers.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1828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69FF"/>
                </a:solidFill>
                <a:latin typeface="Aptos"/>
              </a:rPr>
              <a:t>PRICING PRINCIPLE</a:t>
            </a:r>
            <a:endParaRPr sz="10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4480560"/>
            <a:ext cx="103327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41944"/>
                </a:solidFill>
                <a:latin typeface="Aptos"/>
              </a:rPr>
              <a:t>Show the fee, total deducted and exact amount received before the user confirms.</a:t>
            </a:r>
            <a:endParaRPr sz="22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5623560"/>
            <a:ext cx="9601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4D6991"/>
                </a:solidFill>
                <a:latin typeface="Aptos"/>
              </a:rPr>
              <a:t>All pricing is illustrative project modelling, not confirmed commercial pricing.</a:t>
            </a:r>
            <a:endParaRPr sz="1000" b="0" i="1">
              <a:solidFill>
                <a:srgbClr val="4D699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4D6991"/>
                </a:solidFill>
                <a:latin typeface="Aptos"/>
              </a:rPr>
              <a:t>THE MONEY APP FOR AFRICA  •  LET YOUR MONEY FLOW</a:t>
            </a:r>
            <a:endParaRPr sz="700" b="1" i="0">
              <a:solidFill>
                <a:srgbClr val="4D6991"/>
              </a:solidFill>
              <a:latin typeface="Aptos"/>
            </a:endParaRPr>
          </a:p>
        </p:txBody>
      </p:sp>
      <p:pic>
        <p:nvPicPr>
          <p:cNvPr id="26" name="Picture 25" descr="Group_10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1355" y="5699125"/>
            <a:ext cx="1176655" cy="8388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71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69FF"/>
                </a:solidFill>
                <a:latin typeface="Aptos"/>
              </a:rPr>
              <a:t>WAVE</a:t>
            </a:r>
            <a:endParaRPr sz="18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"/>
            <a:ext cx="6858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ROADMAP &amp; ASK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D6991"/>
                </a:solidFill>
                <a:latin typeface="Aptos"/>
              </a:rPr>
              <a:t>12</a:t>
            </a:r>
            <a:endParaRPr sz="900" b="1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6459"/>
          </a:xfrm>
          <a:prstGeom prst="rect">
            <a:avLst/>
          </a:prstGeom>
          <a:solidFill>
            <a:srgbClr val="B1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41944"/>
                </a:solidFill>
                <a:latin typeface="Aptos"/>
              </a:rPr>
              <a:t>From concept to a trusted everyday product.</a:t>
            </a:r>
            <a:endParaRPr sz="29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10881360" cy="23558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0" i="0">
                <a:solidFill>
                  <a:srgbClr val="4D6991"/>
                </a:solidFill>
                <a:latin typeface="Aptos"/>
              </a:rPr>
              <a:t>We f</a:t>
            </a:r>
            <a:r>
              <a:rPr sz="1300" b="0" i="0">
                <a:solidFill>
                  <a:srgbClr val="4D6991"/>
                </a:solidFill>
                <a:latin typeface="Aptos"/>
              </a:rPr>
              <a:t>ocus</a:t>
            </a:r>
            <a:r>
              <a:rPr lang="en-GB" sz="1300" b="0" i="0">
                <a:solidFill>
                  <a:srgbClr val="4D6991"/>
                </a:solidFill>
                <a:latin typeface="Aptos"/>
              </a:rPr>
              <a:t>ed on using</a:t>
            </a:r>
            <a:r>
              <a:rPr sz="1300" b="0" i="0">
                <a:solidFill>
                  <a:srgbClr val="4D6991"/>
                </a:solidFill>
                <a:latin typeface="Aptos"/>
              </a:rPr>
              <a:t> resources </a:t>
            </a:r>
            <a:r>
              <a:rPr lang="en-GB" sz="1300" b="0" i="0">
                <a:solidFill>
                  <a:srgbClr val="4D6991"/>
                </a:solidFill>
                <a:latin typeface="Aptos"/>
              </a:rPr>
              <a:t>to prove</a:t>
            </a:r>
            <a:r>
              <a:rPr sz="1300" b="0" i="0">
                <a:solidFill>
                  <a:srgbClr val="4D6991"/>
                </a:solidFill>
                <a:latin typeface="Aptos"/>
              </a:rPr>
              <a:t> the core money-moving experience before expanding.</a:t>
            </a:r>
            <a:endParaRPr sz="1300" b="0" i="0">
              <a:solidFill>
                <a:srgbClr val="4D699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211455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24862"/>
            <a:ext cx="21945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69FF"/>
                </a:solidFill>
                <a:latin typeface="Aptos"/>
              </a:rPr>
              <a:t>NOW</a:t>
            </a:r>
            <a:endParaRPr sz="10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0392" y="2708910"/>
            <a:ext cx="21945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41944"/>
                </a:solidFill>
                <a:latin typeface="Aptos"/>
              </a:rPr>
              <a:t>Finish MVP</a:t>
            </a:r>
            <a:endParaRPr sz="16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392" y="3211830"/>
            <a:ext cx="219456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Core send / save / spend flows, fee clarity and reliability.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66160" y="211455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324862"/>
            <a:ext cx="21945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69FF"/>
                </a:solidFill>
                <a:latin typeface="Aptos"/>
              </a:rPr>
              <a:t>NEXT</a:t>
            </a:r>
            <a:endParaRPr sz="10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30752" y="2708910"/>
            <a:ext cx="21945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41944"/>
                </a:solidFill>
                <a:latin typeface="Aptos"/>
              </a:rPr>
              <a:t>Private beta</a:t>
            </a:r>
            <a:endParaRPr sz="16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30752" y="3211830"/>
            <a:ext cx="219456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Recruit users, test activation, collect feedback and improve.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46520" y="211455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2324862"/>
            <a:ext cx="21945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69FF"/>
                </a:solidFill>
                <a:latin typeface="Aptos"/>
              </a:rPr>
              <a:t>VALIDATE</a:t>
            </a:r>
            <a:endParaRPr sz="10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11112" y="2708910"/>
            <a:ext cx="21945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41944"/>
                </a:solidFill>
                <a:latin typeface="Aptos"/>
              </a:rPr>
              <a:t>Prove repeat use</a:t>
            </a:r>
            <a:endParaRPr sz="16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11112" y="3211830"/>
            <a:ext cx="219456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Track retention, transaction frequency and pricing acceptance.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326880" y="211455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1472" y="2324862"/>
            <a:ext cx="21945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69FF"/>
                </a:solidFill>
                <a:latin typeface="Aptos"/>
              </a:rPr>
              <a:t>SCALE</a:t>
            </a:r>
            <a:endParaRPr sz="1000" b="1" i="0">
              <a:solidFill>
                <a:srgbClr val="0069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91472" y="2708910"/>
            <a:ext cx="21945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41944"/>
                </a:solidFill>
                <a:latin typeface="Aptos"/>
              </a:rPr>
              <a:t>Expand carefully</a:t>
            </a:r>
            <a:endParaRPr sz="1600" b="1" i="0">
              <a:solidFill>
                <a:srgbClr val="041944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91472" y="3211830"/>
            <a:ext cx="219456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81C43"/>
                </a:solidFill>
                <a:latin typeface="Aptos"/>
              </a:rPr>
              <a:t>Build partnerships and extend card, bills and savings adoption.</a:t>
            </a:r>
            <a:endParaRPr sz="1200" b="0" i="0">
              <a:solidFill>
                <a:srgbClr val="081C43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31520" y="4434840"/>
            <a:ext cx="10789920" cy="1051560"/>
          </a:xfrm>
          <a:prstGeom prst="roundRect">
            <a:avLst/>
          </a:prstGeom>
          <a:solidFill>
            <a:srgbClr val="041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645152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6DEEF"/>
                </a:solidFill>
                <a:latin typeface="Aptos"/>
              </a:rPr>
              <a:t>THE ASK</a:t>
            </a:r>
            <a:endParaRPr sz="1000" b="1" i="0">
              <a:solidFill>
                <a:srgbClr val="26DEE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48840" y="4617720"/>
            <a:ext cx="88696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Support product development, user testing, compliance readiness, infrastructure and early customer acquisition.</a:t>
            </a:r>
            <a:endParaRPr sz="17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4D6991"/>
                </a:solidFill>
                <a:latin typeface="Aptos"/>
              </a:rPr>
              <a:t>Specific funding amount and investment terms: to be defined by the team.</a:t>
            </a:r>
            <a:endParaRPr sz="1000" b="0" i="1">
              <a:solidFill>
                <a:srgbClr val="4D6991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4D6991"/>
                </a:solidFill>
                <a:latin typeface="Aptos"/>
              </a:rPr>
              <a:t>THE MONEY APP FOR AFRICA  •  LET YOUR MONEY FLOW</a:t>
            </a:r>
            <a:endParaRPr sz="700" b="1" i="0">
              <a:solidFill>
                <a:srgbClr val="4D6991"/>
              </a:solidFill>
              <a:latin typeface="Aptos"/>
            </a:endParaRPr>
          </a:p>
        </p:txBody>
      </p:sp>
      <p:pic>
        <p:nvPicPr>
          <p:cNvPr id="31" name="Picture 30" descr="Group_10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885" y="5748655"/>
            <a:ext cx="1176655" cy="8388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371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69FF"/>
                </a:solidFill>
                <a:latin typeface="Aptos"/>
              </a:rPr>
              <a:t>WAVE</a:t>
            </a:r>
            <a:endParaRPr sz="1800" b="1">
              <a:solidFill>
                <a:srgbClr val="0069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"/>
            <a:ext cx="68580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D6991"/>
                </a:solidFill>
                <a:latin typeface="Aptos"/>
              </a:rPr>
              <a:t>VISUAL IDENTITY &amp; PRODUCT DIRECTION</a:t>
            </a:r>
            <a:endParaRPr sz="900" b="1">
              <a:solidFill>
                <a:srgbClr val="4D699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D6991"/>
                </a:solidFill>
                <a:latin typeface="Aptos"/>
              </a:rPr>
              <a:t>14</a:t>
            </a:r>
            <a:endParaRPr sz="900" b="1">
              <a:solidFill>
                <a:srgbClr val="4D6991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6459"/>
          </a:xfrm>
          <a:prstGeom prst="rect">
            <a:avLst/>
          </a:prstGeom>
          <a:solidFill>
            <a:srgbClr val="B1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07567"/>
            <a:ext cx="109728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41944"/>
                </a:solidFill>
                <a:latin typeface="Aptos"/>
              </a:rPr>
              <a:t>A visual language built for clarity.</a:t>
            </a:r>
            <a:endParaRPr sz="2700" b="1">
              <a:solidFill>
                <a:srgbClr val="041944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91540" y="1903730"/>
            <a:ext cx="3337560" cy="388620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rame 5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770" y="2542540"/>
            <a:ext cx="2780030" cy="27800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1268" y="5494782"/>
            <a:ext cx="3118104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069FF"/>
                </a:solidFill>
                <a:latin typeface="Aptos"/>
              </a:rPr>
              <a:t>BRAND &amp; APPLICATION</a:t>
            </a:r>
            <a:endParaRPr sz="1000" b="1">
              <a:solidFill>
                <a:srgbClr val="0069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57700" y="1903730"/>
            <a:ext cx="3337560" cy="388620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rame 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735" y="2312035"/>
            <a:ext cx="2992755" cy="29927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67428" y="5503037"/>
            <a:ext cx="3118104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069FF"/>
                </a:solidFill>
                <a:latin typeface="Aptos"/>
              </a:rPr>
              <a:t>CAMPAIGN / HERO DIRECTION</a:t>
            </a:r>
            <a:endParaRPr sz="1000" b="1">
              <a:solidFill>
                <a:srgbClr val="0069F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23859" y="1903730"/>
            <a:ext cx="3337560" cy="3886200"/>
          </a:xfrm>
          <a:prstGeom prst="roundRect">
            <a:avLst/>
          </a:prstGeom>
          <a:solidFill>
            <a:srgbClr val="F4FAFF"/>
          </a:solidFill>
          <a:ln>
            <a:solidFill>
              <a:srgbClr val="B1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rame 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915" y="2312035"/>
            <a:ext cx="2992755" cy="29927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33587" y="5503037"/>
            <a:ext cx="3118104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069FF"/>
                </a:solidFill>
                <a:latin typeface="Aptos"/>
              </a:rPr>
              <a:t>VISUAL ASSET SYSTEM</a:t>
            </a:r>
            <a:endParaRPr sz="1000" b="1">
              <a:solidFill>
                <a:srgbClr val="0069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6327648"/>
            <a:ext cx="45720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4D6991"/>
                </a:solidFill>
                <a:latin typeface="Aptos"/>
              </a:rPr>
              <a:t>WAVE  •  LET YOUR MONEY FLOW</a:t>
            </a:r>
            <a:endParaRPr sz="800" b="1">
              <a:solidFill>
                <a:srgbClr val="4D6991"/>
              </a:solidFill>
              <a:latin typeface="Aptos"/>
            </a:endParaRPr>
          </a:p>
        </p:txBody>
      </p:sp>
      <p:pic>
        <p:nvPicPr>
          <p:cNvPr id="20" name="Picture 19" descr="Group_101-removebg-pre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0575" y="5930900"/>
            <a:ext cx="989965" cy="7054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9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731520" y="685800"/>
            <a:ext cx="320040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Aptos"/>
              </a:rPr>
              <a:t>WAVE</a:t>
            </a:r>
            <a:endParaRPr sz="4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6384" y="1481328"/>
            <a:ext cx="4114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DEEF"/>
                </a:solidFill>
                <a:latin typeface="Aptos"/>
              </a:rPr>
              <a:t>LET YOUR MONEY FLOW</a:t>
            </a:r>
            <a:endParaRPr sz="1200" b="1" i="0">
              <a:solidFill>
                <a:srgbClr val="26DEE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6858000" cy="1828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Money should work
for the user —
not the other way around.</a:t>
            </a:r>
            <a:endParaRPr sz="3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4754880"/>
            <a:ext cx="6400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6DEEF"/>
                </a:solidFill>
                <a:latin typeface="Aptos"/>
              </a:rPr>
              <a:t>SEND  •  SAVE  •  SPEND  •  UNDERSTAND</a:t>
            </a:r>
            <a:endParaRPr sz="1500" b="1" i="0">
              <a:solidFill>
                <a:srgbClr val="26DEE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5577840"/>
            <a:ext cx="4637405" cy="342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000" b="1" i="1">
                <a:solidFill>
                  <a:srgbClr val="FFFFFF"/>
                </a:solidFill>
                <a:latin typeface="Aptos"/>
              </a:rPr>
              <a:t>Let’s </a:t>
            </a:r>
            <a:r>
              <a:rPr sz="2000" b="1" i="1">
                <a:solidFill>
                  <a:srgbClr val="FFFFFF"/>
                </a:solidFill>
                <a:latin typeface="Aptos"/>
              </a:rPr>
              <a:t>Ride the Wave.</a:t>
            </a:r>
            <a:r>
              <a:rPr lang="en-GB" sz="2000" b="1" i="1">
                <a:solidFill>
                  <a:srgbClr val="FFFFFF"/>
                </a:solidFill>
                <a:latin typeface="Aptos"/>
              </a:rPr>
              <a:t> Shall We...?</a:t>
            </a:r>
            <a:endParaRPr lang="en-GB" sz="2000" b="1" i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0" y="5989320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Thank you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16" name="Picture 15" descr="Group_10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885" y="375920"/>
            <a:ext cx="1176655" cy="8388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7727</Words>
  <Application>WPS Presentation</Application>
  <PresentationFormat>On-screen Show (4:3)</PresentationFormat>
  <Paragraphs>527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Arial</vt:lpstr>
      <vt:lpstr>Aptos</vt:lpstr>
      <vt:lpstr>Segoe UI</vt:lpstr>
      <vt:lpstr>Inter</vt:lpstr>
      <vt:lpstr>Inter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 Pitch Deck — Infinity Icon Top Right</dc:title>
  <dc:creator>WAVE Project Team</dc:creator>
  <cp:keywords>Wave, fintech, Nigeria, pitch deck</cp:keywords>
  <dc:description>generated using python-pptx</dc:description>
  <dc:subject>The Money App for Africa — Send, Save, Spend, Understand</dc:subject>
  <cp:lastModifiedBy>Oghaleoghene Akatibekpe</cp:lastModifiedBy>
  <cp:revision>3</cp:revision>
  <dcterms:created xsi:type="dcterms:W3CDTF">2013-01-27T09:14:00Z</dcterms:created>
  <dcterms:modified xsi:type="dcterms:W3CDTF">2026-10-13T08:24:59Z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A7BBCE75CE69447C8C0ADE358847F17D_12</vt:lpwstr>
  </property>
</Properties>
</file>